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image" Target="../media/image-10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3.png"/><Relationship Id="rId7" Type="http://schemas.openxmlformats.org/officeDocument/2006/relationships/image" Target="../media/image-12-3.png"/><Relationship Id="rId8" Type="http://schemas.openxmlformats.org/officeDocument/2006/relationships/image" Target="../media/image-1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iel/Desktop/go/copa-omega/docs/slides/assets/sta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58901"/>
            <a:ext cx="507950" cy="507950"/>
          </a:xfrm>
          <a:prstGeom prst="rect">
            <a:avLst/>
          </a:prstGeom>
        </p:spPr>
      </p:pic>
      <p:pic>
        <p:nvPicPr>
          <p:cNvPr id="3" name="Image 1" descr="C:/Users/ariel/Desktop/go/copa-omega/docs/slides/assets/st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50" y="2158901"/>
            <a:ext cx="507950" cy="507950"/>
          </a:xfrm>
          <a:prstGeom prst="rect">
            <a:avLst/>
          </a:prstGeom>
        </p:spPr>
      </p:pic>
      <p:pic>
        <p:nvPicPr>
          <p:cNvPr id="4" name="Image 2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950" y="2027337"/>
            <a:ext cx="5079950" cy="381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18652" y="2319338"/>
            <a:ext cx="430654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ECONOMICO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 STAR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2567572" y="3290888"/>
            <a:ext cx="40087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Implementacion - Bladers Santa Fe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093210" y="3630513"/>
            <a:ext cx="9574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400" dirty="0"/>
          </a:p>
        </p:txBody>
      </p:sp>
      <p:pic>
        <p:nvPicPr>
          <p:cNvPr id="8" name="Image 3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950" y="4093964"/>
            <a:ext cx="507995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8100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6825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60252"/>
            <a:ext cx="3810000" cy="1733104"/>
          </a:xfrm>
          <a:prstGeom prst="roundRect">
            <a:avLst>
              <a:gd name="adj" fmla="val 5862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4426" y="1260277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existe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4426" y="1587252"/>
            <a:ext cx="3409950" cy="100607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Estrellas (25 iniciales, apuesta 1-5)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con 48 productos ($25k-$120k ARS)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Torneos semanales con inscripcion $5k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entre jugadores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08302" y="1060252"/>
            <a:ext cx="3810000" cy="1733104"/>
          </a:xfrm>
          <a:prstGeom prst="roundRect">
            <a:avLst>
              <a:gd name="adj" fmla="val 5862"/>
            </a:avLst>
          </a:prstGeom>
          <a:solidFill>
            <a:srgbClr val="1A1D33"/>
          </a:solidFill>
          <a:ln w="9525">
            <a:solidFill>
              <a:srgbClr val="7C5A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08327" y="1260277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8327" y="1587252"/>
            <a:ext cx="3409950" cy="100607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estrellas no se conectan con la store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moneda premium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descuentos por competir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incentivo economico para jugar mas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8100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Referencia (Parte 1)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6825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60252"/>
            <a:ext cx="8254901" cy="812750"/>
          </a:xfrm>
          <a:prstGeom prst="roundRect">
            <a:avLst>
              <a:gd name="adj" fmla="val 12501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07827" y="1260277"/>
            <a:ext cx="15376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7827" y="1530102"/>
            <a:ext cx="15376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Sword Art Online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405807" y="1260277"/>
            <a:ext cx="6150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Creditos por combate → comprar gear → convertir a dinero real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05807" y="1514177"/>
            <a:ext cx="28795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Alta motivacion, cada batalla tiene valor real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19427" y="1514177"/>
            <a:ext cx="2397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Riesgo legal, cash-out a dinero real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4401" y="2063502"/>
            <a:ext cx="8254901" cy="812750"/>
          </a:xfrm>
          <a:prstGeom prst="roundRect">
            <a:avLst>
              <a:gd name="adj" fmla="val 12501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827" y="2263527"/>
            <a:ext cx="15376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7827" y="2533352"/>
            <a:ext cx="15376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Games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05807" y="2263527"/>
            <a:ext cx="6150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V-Bucks (premium comprados) + Battle Pass (gratis compitiendo)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05807" y="2517428"/>
            <a:ext cx="26708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Doble moneda probada a escala masiva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4789" y="2517428"/>
            <a:ext cx="2857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Solo items cosmeticos, no productos reales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Referencia (Parte 2)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047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45803"/>
            <a:ext cx="8254901" cy="704850"/>
          </a:xfrm>
          <a:prstGeom prst="roundRect">
            <a:avLst>
              <a:gd name="adj" fmla="val 14414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07827" y="1107728"/>
            <a:ext cx="16657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7827" y="1355378"/>
            <a:ext cx="1665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Sports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31418" y="1107728"/>
            <a:ext cx="60225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 Coins (ganados jugando) + FIFA Points (comprados con dinero)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31418" y="1336328"/>
            <a:ext cx="22892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Economia dual madura y rentable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28146" y="1336328"/>
            <a:ext cx="1885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Percibido como pay-to-win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4401" y="1777603"/>
            <a:ext cx="8254901" cy="704850"/>
          </a:xfrm>
          <a:prstGeom prst="roundRect">
            <a:avLst>
              <a:gd name="adj" fmla="val 14414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827" y="1939528"/>
            <a:ext cx="16657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Pokemon GO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7827" y="2187178"/>
            <a:ext cx="1665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Niantic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31418" y="1939528"/>
            <a:ext cx="60225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PokeCoins del gimnasio (gratis) + compra directa con dinero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31418" y="2168128"/>
            <a:ext cx="2519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Ganar gratis motiva la actividad diaria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53769" y="2168128"/>
            <a:ext cx="2504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Ganancia gratis muy limitada (50/dia)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4401" y="2609404"/>
            <a:ext cx="8254901" cy="704850"/>
          </a:xfrm>
          <a:prstGeom prst="roundRect">
            <a:avLst>
              <a:gd name="adj" fmla="val 14414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7827" y="2771329"/>
            <a:ext cx="16657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7827" y="3018979"/>
            <a:ext cx="1665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31418" y="2771329"/>
            <a:ext cx="60225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Gastar dinero → acumular estrellas → canjear por productos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31418" y="2999929"/>
            <a:ext cx="22817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Simple y efectivo, fideliza clientes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20853" y="2999929"/>
            <a:ext cx="246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No hay componente de competencia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852" y="38100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Copa Omega: Doble Moneda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6825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852" y="1085552"/>
            <a:ext cx="8419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dos monedas complementarias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44401" y="1510903"/>
            <a:ext cx="3968800" cy="2294632"/>
          </a:xfrm>
          <a:prstGeom prst="roundRect">
            <a:avLst>
              <a:gd name="adj" fmla="val 5535"/>
            </a:avLst>
          </a:prstGeom>
          <a:solidFill>
            <a:srgbClr val="1A1D33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C:/Users/ariel/Desktop/go/copa-omega/docs/slides/assets/st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76" y="1783854"/>
            <a:ext cx="634901" cy="634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3123" y="2558355"/>
            <a:ext cx="34913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3123" y="2847231"/>
            <a:ext cx="3491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GRATIS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3123" y="3126581"/>
            <a:ext cx="349135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compitiendo en torneos,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batallas y misiones semanales.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30651" y="1510903"/>
            <a:ext cx="3968651" cy="2294632"/>
          </a:xfrm>
          <a:prstGeom prst="roundRect">
            <a:avLst>
              <a:gd name="adj" fmla="val 5535"/>
            </a:avLst>
          </a:prstGeom>
          <a:solidFill>
            <a:srgbClr val="1A1D33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Users/ariel/Desktop/go/copa-omega/docs/slides/assets/coin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526" y="1783854"/>
            <a:ext cx="634901" cy="6349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9374" y="2558355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969374" y="2847231"/>
            <a:ext cx="3491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PREMIUM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69374" y="3126581"/>
            <a:ext cx="3491204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compran con $ARS.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conversion para compras.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61852" y="4034135"/>
            <a:ext cx="8419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se pueden gastar en la Store y en torneos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555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Monedas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428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09352"/>
            <a:ext cx="3936950" cy="2355205"/>
          </a:xfrm>
          <a:prstGeom prst="roundRect">
            <a:avLst>
              <a:gd name="adj" fmla="val 4314"/>
            </a:avLst>
          </a:prstGeom>
          <a:solidFill>
            <a:srgbClr val="1A1D33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/assets/st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6" y="1209377"/>
            <a:ext cx="304800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727" y="1257002"/>
            <a:ext cx="10778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4426" y="1641128"/>
            <a:ext cx="3536900" cy="15234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jugando (batallas, torneos, misiones)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semanal: 100 max por semana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 para descuentos en la Store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estacional (cada 3 meses)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pueden transferir entre jugadores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estrellas iniciales al registrarse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635252" y="1009352"/>
            <a:ext cx="3936950" cy="2355205"/>
          </a:xfrm>
          <a:prstGeom prst="roundRect">
            <a:avLst>
              <a:gd name="adj" fmla="val 4314"/>
            </a:avLst>
          </a:prstGeom>
          <a:solidFill>
            <a:srgbClr val="1A1D33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C:/Users/ariel/Desktop/go/copa-omega/docs/slides/assets/coin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277" y="1209377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41578" y="1257002"/>
            <a:ext cx="1302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835277" y="1641128"/>
            <a:ext cx="3536900" cy="15234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compran con $ARS ($1.000 = 100 OC)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 para compras completas en Store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expiran nunca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Intransferibles (seguridad anti-fraude)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controla el precio de conversion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ratio que pagar full price en $ARS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555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Estrellas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428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09352"/>
            <a:ext cx="8254901" cy="3549551"/>
          </a:xfrm>
          <a:prstGeom prst="roundRect">
            <a:avLst>
              <a:gd name="adj" fmla="val 2862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3926" y="1018877"/>
            <a:ext cx="8235851" cy="415826"/>
          </a:xfrm>
          <a:prstGeom prst="rect">
            <a:avLst/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3926" y="1429941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2526" y="1145828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50009" y="1145828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3926" y="182046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2526" y="1549003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batalla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50009" y="1549003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+apuesta del rival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3926" y="2210991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2526" y="1939528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torneo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50009" y="1939528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 bonus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3926" y="26015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2526" y="2330053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Misiones semanales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50009" y="2330053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a +30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3926" y="2992041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526" y="2720578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Check-in en evento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50009" y="2720578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3926" y="338256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2526" y="3111103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streak diario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50009" y="3111103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+1/dia (max +7/sem)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3926" y="3773091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2526" y="3501628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Referir un nuevo jugador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50009" y="3501628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3926" y="41636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2526" y="3892153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votado por la comunidad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50009" y="3892153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3926" y="4168378"/>
            <a:ext cx="8235851" cy="381000"/>
          </a:xfrm>
          <a:prstGeom prst="rect">
            <a:avLst/>
          </a:prstGeom>
          <a:solidFill>
            <a:srgbClr val="1E1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82526" y="4282678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SEMANAL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50009" y="4282678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maximo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555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Gastar: Precios y Equivalencias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428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09352"/>
            <a:ext cx="8254901" cy="2041029"/>
          </a:xfrm>
          <a:prstGeom prst="roundRect">
            <a:avLst>
              <a:gd name="adj" fmla="val 4978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3926" y="1018877"/>
            <a:ext cx="8235851" cy="406301"/>
          </a:xfrm>
          <a:prstGeom prst="rect">
            <a:avLst/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3926" y="14204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1627" y="1145828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0572" y="1145828"/>
            <a:ext cx="1786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ARS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0430" y="1145828"/>
            <a:ext cx="1913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64355" y="1145828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 Estrellas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3926" y="18267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627" y="1552129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Beyblade estandar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0572" y="1552129"/>
            <a:ext cx="1786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$25.000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90430" y="1552129"/>
            <a:ext cx="1913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OC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64355" y="1552129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$2.500 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3926" y="2233017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627" y="1958429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 torneo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0572" y="1958429"/>
            <a:ext cx="1786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$5.000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90430" y="1958429"/>
            <a:ext cx="1913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OC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64355" y="1958429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estrellas = gratis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3926" y="2639318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627" y="2364730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premium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0572" y="2364730"/>
            <a:ext cx="1786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90430" y="2364730"/>
            <a:ext cx="1913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64355" y="2364730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estrellas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1627" y="2771031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Titulo custom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0572" y="2771031"/>
            <a:ext cx="1786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90430" y="2771031"/>
            <a:ext cx="1913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OC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64355" y="2771031"/>
            <a:ext cx="216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estrellas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Ganancia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666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856952"/>
            <a:ext cx="8254901" cy="828675"/>
          </a:xfrm>
          <a:prstGeom prst="roundRect">
            <a:avLst>
              <a:gd name="adj" fmla="val 12261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2526" y="980777"/>
            <a:ext cx="79342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Directa ($ARS)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2526" y="1228427"/>
            <a:ext cx="79342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$25.000 precio - $16.000 costo = $9.000 ganancia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2526" y="1409402"/>
            <a:ext cx="7934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Margen: 36%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4401" y="1774478"/>
            <a:ext cx="8254901" cy="1009650"/>
          </a:xfrm>
          <a:prstGeom prst="roundRect">
            <a:avLst>
              <a:gd name="adj" fmla="val 10063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2526" y="1898303"/>
            <a:ext cx="79342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Omega Coins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2526" y="2145953"/>
            <a:ext cx="79342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 paga $20.000 por 2.000 OC → canjea beyblade de $25.000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2526" y="2326928"/>
            <a:ext cx="79342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gana $4.000 + engagement del jugador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2526" y="2507903"/>
            <a:ext cx="7934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Margen: 20% + fidelizacion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4401" y="2872978"/>
            <a:ext cx="8254901" cy="828675"/>
          </a:xfrm>
          <a:prstGeom prst="roundRect">
            <a:avLst>
              <a:gd name="adj" fmla="val 12261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82526" y="2996803"/>
            <a:ext cx="79342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Inscripciones Torneo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526" y="3244453"/>
            <a:ext cx="79342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$5.000 x 15 jugadores = $75.000 por torneo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2526" y="3425428"/>
            <a:ext cx="7934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$75.000 revenue por evento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4401" y="3777853"/>
            <a:ext cx="8254901" cy="1057126"/>
          </a:xfrm>
          <a:prstGeom prst="roundRect">
            <a:avLst>
              <a:gd name="adj" fmla="val 9611"/>
            </a:avLst>
          </a:prstGeom>
          <a:solidFill>
            <a:srgbClr val="1E1040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051" y="3923854"/>
            <a:ext cx="79147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Estimacion Mensual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2051" y="4200079"/>
            <a:ext cx="79147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$500.000+ ARS / mes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92051" y="4546104"/>
            <a:ext cx="79147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torneos x $75k + ventas de productos + Omega Coins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Circulacion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047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45803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Flujo Premium (Omega Coins)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44401" y="1301353"/>
            <a:ext cx="933599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228" y="1412379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0228" y="1571030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OC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0228" y="1704380"/>
            <a:ext cx="621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$ARS</a:t>
            </a:r>
            <a:endParaRPr lang="en-US" sz="800" dirty="0"/>
          </a:p>
        </p:txBody>
      </p:sp>
      <p:pic>
        <p:nvPicPr>
          <p:cNvPr id="9" name="Image 1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00" y="150122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09601" y="1301353"/>
            <a:ext cx="1136749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963397" y="1412379"/>
            <a:ext cx="829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963397" y="1571030"/>
            <a:ext cx="829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 OC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963397" y="1704380"/>
            <a:ext cx="8291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productos/torneos</a:t>
            </a:r>
            <a:endParaRPr lang="en-US" sz="800" dirty="0"/>
          </a:p>
        </p:txBody>
      </p:sp>
      <p:pic>
        <p:nvPicPr>
          <p:cNvPr id="14" name="Image 2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851" y="1501229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77952" y="1301353"/>
            <a:ext cx="1170533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531410" y="1412379"/>
            <a:ext cx="8636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531410" y="1571030"/>
            <a:ext cx="8636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$ARS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531410" y="1704380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mantenido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44401" y="2056656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Flujo Gratis (Estrellas)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4401" y="2412206"/>
            <a:ext cx="1102816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8536" y="2523232"/>
            <a:ext cx="794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98536" y="2681883"/>
            <a:ext cx="794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estrellas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98536" y="2815233"/>
            <a:ext cx="794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batallas/misiones</a:t>
            </a:r>
            <a:endParaRPr lang="en-US" sz="800" dirty="0"/>
          </a:p>
        </p:txBody>
      </p:sp>
      <p:pic>
        <p:nvPicPr>
          <p:cNvPr id="24" name="Image 3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718" y="2612082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78819" y="2412206"/>
            <a:ext cx="1115764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132825" y="2523232"/>
            <a:ext cx="807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132825" y="2681883"/>
            <a:ext cx="807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estrellas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132825" y="2815233"/>
            <a:ext cx="8077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store</a:t>
            </a:r>
            <a:endParaRPr lang="en-US" sz="800" dirty="0"/>
          </a:p>
        </p:txBody>
      </p:sp>
      <p:pic>
        <p:nvPicPr>
          <p:cNvPr id="29" name="Image 4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084" y="261208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26185" y="2412206"/>
            <a:ext cx="946249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681886" y="2523232"/>
            <a:ext cx="634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681886" y="2681883"/>
            <a:ext cx="634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Juega mas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681886" y="2815233"/>
            <a:ext cx="6348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OC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44401" y="3167509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Flujo de Stock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44401" y="3523059"/>
            <a:ext cx="1028998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599274" y="3634085"/>
            <a:ext cx="719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99274" y="3792736"/>
            <a:ext cx="719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stock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99274" y="3926086"/>
            <a:ext cx="719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$16.000/ud</a:t>
            </a:r>
            <a:endParaRPr lang="en-US" sz="800" dirty="0"/>
          </a:p>
        </p:txBody>
      </p:sp>
      <p:pic>
        <p:nvPicPr>
          <p:cNvPr id="39" name="Image 5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99" y="3722936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905000" y="3523059"/>
            <a:ext cx="1156395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2058600" y="3634085"/>
            <a:ext cx="84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2058600" y="3792736"/>
            <a:ext cx="84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 o 2000 OC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2058600" y="3926086"/>
            <a:ext cx="849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flexible</a:t>
            </a:r>
            <a:endParaRPr lang="en-US" sz="800" dirty="0"/>
          </a:p>
        </p:txBody>
      </p:sp>
      <p:pic>
        <p:nvPicPr>
          <p:cNvPr id="44" name="Image 6" descr="C:/Users/ariel/Desktop/go/copa-omega/docs/slides/assets/arrow-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895" y="3722936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492996" y="3523059"/>
            <a:ext cx="1057573" cy="628352"/>
          </a:xfrm>
          <a:prstGeom prst="roundRect">
            <a:avLst>
              <a:gd name="adj" fmla="val 12127"/>
            </a:avLst>
          </a:prstGeom>
          <a:solidFill>
            <a:srgbClr val="1A1D33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3647584" y="3634085"/>
            <a:ext cx="748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3647584" y="3792736"/>
            <a:ext cx="748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$4k-$9k/ud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3647584" y="3926086"/>
            <a:ext cx="748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positivo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en la Store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047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71252"/>
            <a:ext cx="3467100" cy="3834408"/>
          </a:xfrm>
          <a:prstGeom prst="roundRect">
            <a:avLst>
              <a:gd name="adj" fmla="val 3663"/>
            </a:avLst>
          </a:prstGeom>
          <a:solidFill>
            <a:srgbClr val="1A1D33"/>
          </a:solidFill>
          <a:ln w="19050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3451" y="990302"/>
            <a:ext cx="3429000" cy="453926"/>
          </a:xfrm>
          <a:prstGeom prst="rect">
            <a:avLst/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3951" y="1117253"/>
            <a:ext cx="3108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Beyblade X - Dran Sword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951" y="1629966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ARS: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44402" y="1596628"/>
            <a:ext cx="608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3951" y="1931491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44402" y="1898154"/>
            <a:ext cx="720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OC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951" y="2199680"/>
            <a:ext cx="3048000" cy="295275"/>
          </a:xfrm>
          <a:prstGeom prst="roundRect">
            <a:avLst>
              <a:gd name="adj" fmla="val 1720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80901" y="2275880"/>
            <a:ext cx="2849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Ahorra $2.500 con tus 500 estrellas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951" y="2596455"/>
            <a:ext cx="3048000" cy="12650"/>
          </a:xfrm>
          <a:prstGeom prst="rect">
            <a:avLst/>
          </a:prstGeom>
          <a:solidFill>
            <a:srgbClr val="2D30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3951" y="2710607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mixto disponible: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3951" y="2920157"/>
            <a:ext cx="812750" cy="215801"/>
          </a:xfrm>
          <a:prstGeom prst="roundRect">
            <a:avLst>
              <a:gd name="adj" fmla="val 23540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55452" y="2970907"/>
            <a:ext cx="621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$15.000 cash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542901" y="2920157"/>
            <a:ext cx="553045" cy="215801"/>
          </a:xfrm>
          <a:prstGeom prst="roundRect">
            <a:avLst>
              <a:gd name="adj" fmla="val 23540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644402" y="2970907"/>
            <a:ext cx="357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OC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72146" y="2920157"/>
            <a:ext cx="778818" cy="215801"/>
          </a:xfrm>
          <a:prstGeom prst="roundRect">
            <a:avLst>
              <a:gd name="adj" fmla="val 23540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273647" y="2970907"/>
            <a:ext cx="5873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estrellas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28951" y="971252"/>
            <a:ext cx="4317950" cy="831652"/>
          </a:xfrm>
          <a:prstGeom prst="roundRect">
            <a:avLst>
              <a:gd name="adj" fmla="val 1221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416177" y="1107728"/>
            <a:ext cx="4022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visible en header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16177" y="1323529"/>
            <a:ext cx="40223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jugador ve sus estrellas y Omega Coins en todo momento en la barra de navegacion.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28951" y="1929854"/>
            <a:ext cx="4317950" cy="831652"/>
          </a:xfrm>
          <a:prstGeom prst="roundRect">
            <a:avLst>
              <a:gd name="adj" fmla="val 1221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416177" y="2066330"/>
            <a:ext cx="4022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mixto flexible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16177" y="2282130"/>
            <a:ext cx="40223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$ARS + Omega Coins + Estrellas en una sola compra. El jugador elige cuanto poner de cada uno.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228951" y="2888456"/>
            <a:ext cx="4317950" cy="831652"/>
          </a:xfrm>
          <a:prstGeom prst="roundRect">
            <a:avLst>
              <a:gd name="adj" fmla="val 1221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416177" y="3024932"/>
            <a:ext cx="4022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 automatico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416177" y="3240732"/>
            <a:ext cx="40223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sugiere automaticamente usar estrellas para obtener descuento. Maximo 10% del precio.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28951" y="3847058"/>
            <a:ext cx="4317950" cy="831652"/>
          </a:xfrm>
          <a:prstGeom prst="roundRect">
            <a:avLst>
              <a:gd name="adj" fmla="val 1221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416177" y="3983534"/>
            <a:ext cx="4022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transacciones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416177" y="4199334"/>
            <a:ext cx="40223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jugador puede ver su historial completo de compras, canjes y movimientos.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Anti-abuso y Balance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66601"/>
            <a:ext cx="8254901" cy="25301"/>
          </a:xfrm>
          <a:prstGeom prst="rect">
            <a:avLst/>
          </a:prstGeom>
        </p:spPr>
      </p:pic>
      <p:pic>
        <p:nvPicPr>
          <p:cNvPr id="4" name="Image 1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01" y="895052"/>
            <a:ext cx="203150" cy="203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4502" y="882402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semanal de estrellas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4502" y="1050578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Maximo 100 estrellas por semana. Evita acumulacion infinita.</a:t>
            </a:r>
            <a:endParaRPr lang="en-US" sz="900" dirty="0"/>
          </a:p>
        </p:txBody>
      </p:sp>
      <p:pic>
        <p:nvPicPr>
          <p:cNvPr id="7" name="Image 2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01" y="1338709"/>
            <a:ext cx="203150" cy="2031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4502" y="1326059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 intransferibles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74502" y="1494234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pueden pasar entre cuentas. Evita mercado negro.</a:t>
            </a:r>
            <a:endParaRPr lang="en-US" sz="900" dirty="0"/>
          </a:p>
        </p:txBody>
      </p:sp>
      <p:pic>
        <p:nvPicPr>
          <p:cNvPr id="10" name="Image 3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01" y="1782366"/>
            <a:ext cx="203150" cy="2031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4502" y="1769715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Apuesta limitada 1-5 estrellas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774502" y="1937891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 jugadores nuevos de perder todo.</a:t>
            </a:r>
            <a:endParaRPr lang="en-US" sz="900" dirty="0"/>
          </a:p>
        </p:txBody>
      </p:sp>
      <p:pic>
        <p:nvPicPr>
          <p:cNvPr id="13" name="Image 4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702" y="895052"/>
            <a:ext cx="203150" cy="2031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90802" y="882402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controla precio de OC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4990802" y="1050578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$ARS a OC ajustable por inflacion o demanda.</a:t>
            </a:r>
            <a:endParaRPr lang="en-US" sz="900" dirty="0"/>
          </a:p>
        </p:txBody>
      </p:sp>
      <p:pic>
        <p:nvPicPr>
          <p:cNvPr id="16" name="Image 5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702" y="1338709"/>
            <a:ext cx="203150" cy="2031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90802" y="1326059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estacional de estrellas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4990802" y="1494234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3 meses se reinician. Mantiene la economia activa.</a:t>
            </a:r>
            <a:endParaRPr lang="en-US" sz="900" dirty="0"/>
          </a:p>
        </p:txBody>
      </p:sp>
      <p:pic>
        <p:nvPicPr>
          <p:cNvPr id="19" name="Image 6" descr="C:/Users/ariel/Desktop/go/copa-omega/docs/slides/assets/check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702" y="1782366"/>
            <a:ext cx="203150" cy="2031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990802" y="1769715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cash-out</a:t>
            </a:r>
            <a:endParaRPr lang="en-US" sz="1000" dirty="0"/>
          </a:p>
        </p:txBody>
      </p:sp>
      <p:sp>
        <p:nvSpPr>
          <p:cNvPr id="21" name="Text 12"/>
          <p:cNvSpPr/>
          <p:nvPr/>
        </p:nvSpPr>
        <p:spPr>
          <a:xfrm>
            <a:off x="4990802" y="1937891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convierte a dinero real. Legal y seguro para todos.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Implementacion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047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45803"/>
            <a:ext cx="675531" cy="641152"/>
          </a:xfrm>
          <a:prstGeom prst="roundRect">
            <a:avLst>
              <a:gd name="adj" fmla="val 15847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7270" y="1072753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5484" y="1364754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272332" y="945803"/>
            <a:ext cx="7426970" cy="641152"/>
          </a:xfrm>
          <a:prstGeom prst="roundRect">
            <a:avLst>
              <a:gd name="adj" fmla="val 15847"/>
            </a:avLst>
          </a:prstGeom>
          <a:solidFill>
            <a:srgbClr val="1A1D33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85007" y="1082278"/>
            <a:ext cx="7141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como descuento en Store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85007" y="1304479"/>
            <a:ext cx="714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el sistema de estrellas existente con la tienda. Permitir canjear estrellas por descuentos en productos.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4401" y="1688455"/>
            <a:ext cx="675531" cy="641152"/>
          </a:xfrm>
          <a:prstGeom prst="roundRect">
            <a:avLst>
              <a:gd name="adj" fmla="val 15847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17270" y="1815405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5484" y="2107406"/>
            <a:ext cx="4133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2332" y="1688455"/>
            <a:ext cx="7426970" cy="641152"/>
          </a:xfrm>
          <a:prstGeom prst="roundRect">
            <a:avLst>
              <a:gd name="adj" fmla="val 1584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485007" y="1824930"/>
            <a:ext cx="7141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 con estrellas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85007" y="2047131"/>
            <a:ext cx="714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pagar la inscripcion del torneo semanal con estrellas (50 estrellas = inscripcion gratis).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4401" y="2431107"/>
            <a:ext cx="675531" cy="641152"/>
          </a:xfrm>
          <a:prstGeom prst="roundRect">
            <a:avLst>
              <a:gd name="adj" fmla="val 15847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7270" y="255805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10855" y="2850059"/>
            <a:ext cx="342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3-4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272332" y="2431107"/>
            <a:ext cx="7426970" cy="641152"/>
          </a:xfrm>
          <a:prstGeom prst="roundRect">
            <a:avLst>
              <a:gd name="adj" fmla="val 1584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485007" y="2567583"/>
            <a:ext cx="7141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 + sistema de compra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85007" y="2789783"/>
            <a:ext cx="714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moneda premium Omega Coins. Implementar la compra con $ARS y el gasto en la Store.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4401" y="3173760"/>
            <a:ext cx="675531" cy="641152"/>
          </a:xfrm>
          <a:prstGeom prst="roundRect">
            <a:avLst>
              <a:gd name="adj" fmla="val 15847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17270" y="3300710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8673" y="3592711"/>
            <a:ext cx="2469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2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272332" y="3173760"/>
            <a:ext cx="7426970" cy="641152"/>
          </a:xfrm>
          <a:prstGeom prst="roundRect">
            <a:avLst>
              <a:gd name="adj" fmla="val 1584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485007" y="3310235"/>
            <a:ext cx="7141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mixto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85007" y="3532436"/>
            <a:ext cx="714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$ARS + Omega Coins + Estrellas en una sola transaccion. Maximo flexibilidad para el jugador.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4401" y="3916412"/>
            <a:ext cx="675531" cy="641152"/>
          </a:xfrm>
          <a:prstGeom prst="roundRect">
            <a:avLst>
              <a:gd name="adj" fmla="val 15847"/>
            </a:avLst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17270" y="4043363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58673" y="4335363"/>
            <a:ext cx="2469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3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272332" y="3916412"/>
            <a:ext cx="7426970" cy="641152"/>
          </a:xfrm>
          <a:prstGeom prst="roundRect">
            <a:avLst>
              <a:gd name="adj" fmla="val 15847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485007" y="4052888"/>
            <a:ext cx="7141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y titulos premium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85007" y="4275088"/>
            <a:ext cx="714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cosmeticos exclusivos: badges de perfil, titulos custom, marcos de avatar. Solo con OC o estrellas.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555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 de Modelos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742801"/>
            <a:ext cx="8254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1009352"/>
            <a:ext cx="8254901" cy="2447330"/>
          </a:xfrm>
          <a:prstGeom prst="roundRect">
            <a:avLst>
              <a:gd name="adj" fmla="val 4151"/>
            </a:avLst>
          </a:prstGeom>
          <a:solidFill>
            <a:srgbClr val="1A1D33"/>
          </a:solidFill>
          <a:ln w="9525">
            <a:solidFill>
              <a:srgbClr val="2D30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3926" y="1018877"/>
            <a:ext cx="8235851" cy="406301"/>
          </a:xfrm>
          <a:prstGeom prst="rect">
            <a:avLst/>
          </a:prstGeom>
          <a:solidFill>
            <a:srgbClr val="2D1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3926" y="14204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6326" y="1145828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559487" y="114582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GGO / SAO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83487" y="114582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94152" y="1145828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3926" y="1826716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6326" y="1552129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59487" y="155212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(riesgoso)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83487" y="155212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94152" y="1552129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(seguro)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3926" y="2233017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326" y="1958429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moneda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59487" y="195842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083487" y="195842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(V-Bucks)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94152" y="1958429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(estrellas + OC)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3926" y="2639318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6326" y="2364730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jugando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59487" y="2364730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083487" y="2364730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94152" y="2364730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3926" y="3045619"/>
            <a:ext cx="8235851" cy="0"/>
          </a:xfrm>
          <a:prstGeom prst="line">
            <a:avLst/>
          </a:prstGeom>
          <a:noFill/>
          <a:ln w="9525">
            <a:solidFill>
              <a:srgbClr val="2D306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326" y="2771031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reales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559487" y="2771031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(digital)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083487" y="2771031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(digital)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94152" y="2771031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(beyblades)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6326" y="3177332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presencial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59487" y="3177332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083487" y="3177332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594152" y="3177332"/>
            <a:ext cx="2914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(semanal)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2200" dirty="0"/>
          </a:p>
        </p:txBody>
      </p:sp>
      <p:pic>
        <p:nvPicPr>
          <p:cNvPr id="3" name="Image 0" descr="C:/Users/ariel/Desktop/go/copa-omega/docs/slides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768251"/>
            <a:ext cx="7873901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08555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D1B69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24865" y="12141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07902" y="1149102"/>
            <a:ext cx="7124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estrellas con la Store </a:t>
            </a:r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(esta semana)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07902" y="1374428"/>
            <a:ext cx="7124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canje de estrellas como descuento en productos existentes.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4901" y="173325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D1B69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4865" y="18618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07902" y="1796802"/>
            <a:ext cx="7124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sistema de Omega Coins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07902" y="2022128"/>
            <a:ext cx="7124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moneda premium, pagina de compra, integracion con el backend.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4901" y="238095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D1B69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4865" y="25095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07902" y="2444502"/>
            <a:ext cx="7124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pago mixto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07902" y="2669828"/>
            <a:ext cx="7124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flexible: $ARS + Omega Coins + Estrellas en una sola transaccion.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4901" y="302865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D1B69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24865" y="31572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07902" y="3092202"/>
            <a:ext cx="7124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al publico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07902" y="3317528"/>
            <a:ext cx="7124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a la comunidad, onboarding de jugadores, primer torneo con economia activa.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4901" y="3777853"/>
            <a:ext cx="7873901" cy="644426"/>
          </a:xfrm>
          <a:prstGeom prst="roundRect">
            <a:avLst>
              <a:gd name="adj" fmla="val 15766"/>
            </a:avLst>
          </a:prstGeom>
          <a:solidFill>
            <a:srgbClr val="1E1040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24856" y="3990529"/>
            <a:ext cx="7493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objetivo: que cada batalla tenga un valor real"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Economico Copa Omega Star</dc:title>
  <dc:subject>Plan de Implementacion - Marzo 2026</dc:subject>
  <dc:creator>Bladers Santa Fe</dc:creator>
  <cp:lastModifiedBy>Bladers Santa Fe</cp:lastModifiedBy>
  <cp:revision>1</cp:revision>
  <dcterms:created xsi:type="dcterms:W3CDTF">2026-03-23T16:04:36Z</dcterms:created>
  <dcterms:modified xsi:type="dcterms:W3CDTF">2026-03-23T16:04:36Z</dcterms:modified>
</cp:coreProperties>
</file>